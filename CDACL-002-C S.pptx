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63" r:id="rId3"/>
    <p:sldId id="264" r:id="rId4"/>
    <p:sldId id="265" r:id="rId5"/>
    <p:sldId id="258" r:id="rId6"/>
    <p:sldId id="256" r:id="rId7"/>
    <p:sldId id="259" r:id="rId8"/>
    <p:sldId id="260" r:id="rId9"/>
    <p:sldId id="266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239901-F036-4ACB-BF13-4532846D26B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5D567B-4544-4982-8906-5F3D6469F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674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D567B-4544-4982-8906-5F3D6469F1B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18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138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385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165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699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93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796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985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25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889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454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469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6947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056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6612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12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144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022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6957EDF-3DE5-4545-B159-5E8C9BCE596E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42B45-DD9D-402F-B90A-BE88968FD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8493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w/c/d15ccb4e81e072e9/IQCwQt7HMMhNS5Zq0oaq80gcASSfyiCb0m9LLghQ5_v_WH0?e=TIAnCI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1drv.ms/u/c/d15ccb4e81e072e9/IQCMJfNx1Tj8SJ1gm7m7xgOIAfYmYLX5_gTyD2Qu5Q-U3Xw?e=R3jwUX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u/c/d15ccb4e81e072e9/IQD3jhXLJX6hS68ADoj-RdSoAXXfz8tFMx7s1DmuxN_3Htk?e=pjbXUN" TargetMode="External"/><Relationship Id="rId2" Type="http://schemas.openxmlformats.org/officeDocument/2006/relationships/hyperlink" Target="https://1drv.ms/w/c/d15ccb4e81e072e9/IQCwQt7HMMhNS5Zq0oaq80gcASSfyiCb0m9LLghQ5_v_WH0?e=TIAnCI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1drv.ms/u/c/d15ccb4e81e072e9/IQCMJfNx1Tj8SJ1gm7m7xgOIAfYmYLX5_gTyD2Qu5Q-U3Xw?e=R3jwUX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4CDD4-662D-C9AA-ED3A-63AC575BA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690" y="1210323"/>
            <a:ext cx="10374815" cy="2194229"/>
          </a:xfrm>
        </p:spPr>
        <p:txBody>
          <a:bodyPr/>
          <a:lstStyle/>
          <a:p>
            <a:r>
              <a:rPr lang="en-IN" sz="6500" b="1" dirty="0"/>
              <a:t>Customer Segmentation</a:t>
            </a:r>
            <a:br>
              <a:rPr lang="en-IN" b="1" dirty="0"/>
            </a:br>
            <a:r>
              <a:rPr lang="en-US" sz="2400" dirty="0">
                <a:solidFill>
                  <a:schemeClr val="tx1"/>
                </a:solidFill>
              </a:rPr>
              <a:t>CDACL-002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1D226-D164-A990-F338-CE86B9BA3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3453448"/>
            <a:ext cx="8946541" cy="1765103"/>
          </a:xfrm>
        </p:spPr>
        <p:txBody>
          <a:bodyPr/>
          <a:lstStyle/>
          <a:p>
            <a:r>
              <a:rPr lang="en-IN" sz="1600" u="sng" dirty="0">
                <a:solidFill>
                  <a:schemeClr val="tx2">
                    <a:lumMod val="50000"/>
                  </a:schemeClr>
                </a:solidFill>
              </a:rPr>
              <a:t>Name:</a:t>
            </a:r>
            <a:r>
              <a:rPr lang="en-IN" sz="1600" dirty="0"/>
              <a:t> </a:t>
            </a:r>
            <a:r>
              <a:rPr lang="en-IN" dirty="0"/>
              <a:t>Ranganatha R</a:t>
            </a:r>
          </a:p>
          <a:p>
            <a:r>
              <a:rPr lang="en-IN" sz="1600" u="sng" dirty="0">
                <a:solidFill>
                  <a:schemeClr val="tx2">
                    <a:lumMod val="50000"/>
                  </a:schemeClr>
                </a:solidFill>
              </a:rPr>
              <a:t>Batch ID: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IN" dirty="0"/>
              <a:t>11-AUG-25-CDA-BUN-040-WDM1130-BAN</a:t>
            </a:r>
          </a:p>
          <a:p>
            <a:r>
              <a:rPr lang="en-IN" sz="1600" u="sng" dirty="0">
                <a:solidFill>
                  <a:schemeClr val="tx2">
                    <a:lumMod val="50000"/>
                  </a:schemeClr>
                </a:solidFill>
              </a:rPr>
              <a:t>Project Team ID:</a:t>
            </a:r>
            <a:r>
              <a:rPr lang="en-IN" dirty="0"/>
              <a:t> PTID-CDA-NOV-25-934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869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38"/>
    </mc:Choice>
    <mc:Fallback xmlns="">
      <p:transition spd="slow" advTm="109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39B28-CA8F-2F51-362B-FCD61A93D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6" y="132735"/>
            <a:ext cx="9404723" cy="1400530"/>
          </a:xfrm>
        </p:spPr>
        <p:txBody>
          <a:bodyPr/>
          <a:lstStyle/>
          <a:p>
            <a:r>
              <a:rPr lang="en-US" dirty="0"/>
              <a:t>Dataset Overview and Objective: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F3CBC-E481-D817-01D2-3D24A3F8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6" y="938982"/>
            <a:ext cx="11698288" cy="5417574"/>
          </a:xfrm>
        </p:spPr>
        <p:txBody>
          <a:bodyPr>
            <a:noAutofit/>
          </a:bodyPr>
          <a:lstStyle/>
          <a:p>
            <a:r>
              <a:rPr lang="en-US" sz="1800" b="1" dirty="0"/>
              <a:t>Dataset Overview:</a:t>
            </a: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U.S. customer shopping data with </a:t>
            </a:r>
            <a:r>
              <a:rPr lang="en-US" sz="1800" b="1" dirty="0"/>
              <a:t>3,900 records</a:t>
            </a: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Covers </a:t>
            </a:r>
            <a:r>
              <a:rPr lang="en-US" sz="1800" b="1" dirty="0"/>
              <a:t>demographics, spending, discounts, payment methods, seasons, and locations</a:t>
            </a: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Includes </a:t>
            </a:r>
            <a:r>
              <a:rPr lang="en-US" sz="1800" b="1" dirty="0"/>
              <a:t>purchase behavior and engagement metrics</a:t>
            </a:r>
            <a:r>
              <a:rPr lang="en-US" sz="1800" dirty="0"/>
              <a:t> such as frequency, previous purchases, and subscriptions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Captures </a:t>
            </a:r>
            <a:r>
              <a:rPr lang="en-US" sz="1800" b="1" dirty="0"/>
              <a:t>customer feedback and promotion impact</a:t>
            </a:r>
            <a:r>
              <a:rPr lang="en-US" sz="1800" dirty="0"/>
              <a:t> through ratings, discounts, and promo usage</a:t>
            </a:r>
          </a:p>
          <a:p>
            <a:pPr marL="457200" indent="-457200">
              <a:buFont typeface="+mj-lt"/>
              <a:buAutoNum type="arabicPeriod"/>
            </a:pPr>
            <a:endParaRPr lang="en-US" sz="1800" b="1" dirty="0"/>
          </a:p>
          <a:p>
            <a:r>
              <a:rPr lang="en-US" sz="1800" b="1" dirty="0"/>
              <a:t>Problem Statement:</a:t>
            </a: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Identify discount-eligible product categories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Analyze card spending by age, season, and location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Segment customers and design targeted strategies</a:t>
            </a:r>
          </a:p>
          <a:p>
            <a:endParaRPr lang="en-IN" sz="1800" dirty="0"/>
          </a:p>
          <a:p>
            <a:r>
              <a:rPr lang="en-US" sz="1800" b="1" dirty="0"/>
              <a:t>Objective:</a:t>
            </a:r>
            <a:br>
              <a:rPr lang="en-US" sz="1800" dirty="0"/>
            </a:br>
            <a:r>
              <a:rPr lang="en-US" sz="1800" dirty="0"/>
              <a:t>To analyze customer shopping behavior using SQL and Power BI, identify spending and discount patterns, segment customers based on trends, and provide actionable insights to support targeted marketing and business decisions.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3457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921"/>
    </mc:Choice>
    <mc:Fallback xmlns="">
      <p:transition spd="slow" advTm="7092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B2C06-2469-CD10-F1B3-6996C6DEE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475" y="294098"/>
            <a:ext cx="2656926" cy="741600"/>
          </a:xfrm>
        </p:spPr>
        <p:txBody>
          <a:bodyPr/>
          <a:lstStyle/>
          <a:p>
            <a:r>
              <a:rPr lang="en-US" dirty="0"/>
              <a:t>Task 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74987-C66C-02AB-89B4-5F43FF182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830" y="1241155"/>
            <a:ext cx="8946541" cy="500550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sz="6400" dirty="0">
                <a:latin typeface="+mn-lt"/>
              </a:rPr>
              <a:t>Understood project objectives and dataset structure.</a:t>
            </a:r>
          </a:p>
          <a:p>
            <a:r>
              <a:rPr lang="en-US" sz="6400" dirty="0">
                <a:latin typeface="+mn-lt"/>
              </a:rPr>
              <a:t>Planned workflow by dividing tasks across SQL, Power BI, and PPT.</a:t>
            </a:r>
          </a:p>
          <a:p>
            <a:pPr marL="0" indent="0">
              <a:buNone/>
            </a:pPr>
            <a:r>
              <a:rPr lang="en-US" sz="7200" b="1" dirty="0"/>
              <a:t>SQL</a:t>
            </a:r>
            <a:endParaRPr lang="en-US" sz="7200" dirty="0"/>
          </a:p>
          <a:p>
            <a:r>
              <a:rPr lang="en-US" sz="6400" dirty="0">
                <a:latin typeface="+mn-lt"/>
              </a:rPr>
              <a:t>Connected to database and explored data.</a:t>
            </a:r>
          </a:p>
          <a:p>
            <a:r>
              <a:rPr lang="en-US" sz="6400" dirty="0">
                <a:latin typeface="+mn-lt"/>
              </a:rPr>
              <a:t>Verified data quality and created age groups.</a:t>
            </a:r>
          </a:p>
          <a:p>
            <a:r>
              <a:rPr lang="en-US" sz="6400" dirty="0">
                <a:latin typeface="+mn-lt"/>
              </a:rPr>
              <a:t>Analyzed spending by category, discount, season, location, and payment method.</a:t>
            </a:r>
          </a:p>
          <a:p>
            <a:pPr marL="0" indent="0">
              <a:buNone/>
            </a:pPr>
            <a:r>
              <a:rPr lang="en-US" sz="7200" b="1" dirty="0"/>
              <a:t>Power BI</a:t>
            </a:r>
            <a:endParaRPr lang="en-US" sz="7200" dirty="0"/>
          </a:p>
          <a:p>
            <a:r>
              <a:rPr lang="en-US" sz="6400" dirty="0">
                <a:latin typeface="+mn-lt"/>
              </a:rPr>
              <a:t>Imported data and created KPIs.</a:t>
            </a:r>
          </a:p>
          <a:p>
            <a:r>
              <a:rPr lang="en-US" sz="6400" dirty="0">
                <a:latin typeface="+mn-lt"/>
              </a:rPr>
              <a:t>Performed customer clustering and segment analysis.</a:t>
            </a:r>
          </a:p>
          <a:p>
            <a:r>
              <a:rPr lang="en-US" sz="6400" dirty="0">
                <a:latin typeface="+mn-lt"/>
              </a:rPr>
              <a:t>Built dashboard and supporting visuals.</a:t>
            </a:r>
          </a:p>
          <a:p>
            <a:r>
              <a:rPr lang="en-US" sz="6400" dirty="0">
                <a:latin typeface="+mn-lt"/>
              </a:rPr>
              <a:t>Derived insights and recommendations.</a:t>
            </a:r>
          </a:p>
          <a:p>
            <a:pPr marL="0" indent="0">
              <a:buNone/>
            </a:pPr>
            <a:r>
              <a:rPr lang="en-US" sz="7200" b="1" dirty="0"/>
              <a:t>Presentation</a:t>
            </a:r>
            <a:endParaRPr lang="en-US" sz="7200" dirty="0"/>
          </a:p>
          <a:p>
            <a:r>
              <a:rPr lang="en-US" sz="6400" dirty="0">
                <a:latin typeface="+mn-lt"/>
              </a:rPr>
              <a:t>Structured slides and refined content.</a:t>
            </a:r>
          </a:p>
          <a:p>
            <a:r>
              <a:rPr lang="en-US" sz="6400" dirty="0">
                <a:latin typeface="+mn-lt"/>
              </a:rPr>
              <a:t>Finalized visuals, insights, and recommendations.</a:t>
            </a:r>
          </a:p>
          <a:p>
            <a:r>
              <a:rPr lang="en-US" sz="6400" dirty="0">
                <a:latin typeface="+mn-lt"/>
              </a:rPr>
              <a:t>Recorded and submitted the project.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341440-66D0-977B-A4C9-632E01424744}"/>
              </a:ext>
            </a:extLst>
          </p:cNvPr>
          <p:cNvSpPr txBox="1"/>
          <p:nvPr/>
        </p:nvSpPr>
        <p:spPr>
          <a:xfrm>
            <a:off x="4338735" y="6452119"/>
            <a:ext cx="4068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Sitka Text" panose="02000505000000020004" pitchFamily="2" charset="0"/>
              </a:rPr>
              <a:t>For Detailed Work Flow, click here:</a:t>
            </a:r>
            <a:endParaRPr lang="en-IN" sz="1200" i="1" dirty="0">
              <a:latin typeface="Sitka Text" panose="02000505000000020004" pitchFamily="2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2F2A5B5-2818-1D5E-48EE-0D85BAAB9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524" y="6436729"/>
            <a:ext cx="25038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CDACL-002-C S.docx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17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5"/>
    </mc:Choice>
    <mc:Fallback xmlns="">
      <p:transition spd="slow" advTm="4146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75467-9DB9-2015-3FDC-CD39291B5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15" y="246241"/>
            <a:ext cx="10208701" cy="1036869"/>
          </a:xfrm>
        </p:spPr>
        <p:txBody>
          <a:bodyPr/>
          <a:lstStyle/>
          <a:p>
            <a:r>
              <a:rPr lang="en-IN" i="1" dirty="0">
                <a:solidFill>
                  <a:schemeClr val="tx1">
                    <a:lumMod val="95000"/>
                  </a:schemeClr>
                </a:solidFill>
              </a:rPr>
              <a:t>Customer Segmentation Approach: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2D4618-68CC-9F0A-3E03-598E02C0CC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5849" y="1659285"/>
            <a:ext cx="1158030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Customers were segmented using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Purchase Amount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Previous Purchases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 to capture value and engagement.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Clustering resulted in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High, Medium, and Low value customer groups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 based on spending behavior.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These variables were chosen as they best represent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customer lifetime value and shopping consistency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Segmentation enables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targeted marketing strategies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 instead of one-size-fits-all promotions.</a:t>
            </a:r>
          </a:p>
        </p:txBody>
      </p:sp>
    </p:spTree>
    <p:extLst>
      <p:ext uri="{BB962C8B-B14F-4D97-AF65-F5344CB8AC3E}">
        <p14:creationId xmlns:p14="http://schemas.microsoft.com/office/powerpoint/2010/main" val="335237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962"/>
    </mc:Choice>
    <mc:Fallback xmlns="">
      <p:transition spd="slow" advTm="3296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BA99D0-52D1-AAF4-4AD8-98C23283B7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31016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005"/>
    </mc:Choice>
    <mc:Fallback xmlns="">
      <p:transition spd="slow" advTm="6400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AA50F9-F60D-55A4-1E1D-85A130917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115" y="1575757"/>
            <a:ext cx="11779770" cy="4631961"/>
          </a:xfrm>
        </p:spPr>
        <p:txBody>
          <a:bodyPr>
            <a:normAutofit fontScale="70000" lnSpcReduction="2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 clustering reveals 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clear High, Medium, and Low value segments</a:t>
            </a:r>
            <a:r>
              <a:rPr 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with distinct spending and loyalty behaviors.</a:t>
            </a:r>
            <a:endParaRPr lang="en-US" sz="2600" i="1" dirty="0">
              <a:solidFill>
                <a:schemeClr val="tx1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High-value customers, though fewer, contribute the highest profitability with strong loyalty and low discount dependency.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Medium customer segments drive volume but show lower loyalty and satisfaction, indicating strong growth potential.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Credit cards dominate payments, with younger customers preferring digital methods.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Clothing consistently leads revenue across ages and seasons with minimal discount reliance.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Discounts are least effective in Sports, showing high discount but low revenue impact.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Seasonal and age-based preferences significantly influence category performance.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Location impact was analyzed and found to be relatively uniform, hence not a primary driver compared to seasonality.</a:t>
            </a:r>
          </a:p>
          <a:p>
            <a:pPr algn="just"/>
            <a:endParaRPr lang="en-US" i="1" dirty="0">
              <a:solidFill>
                <a:schemeClr val="tx1">
                  <a:lumMod val="95000"/>
                </a:schemeClr>
              </a:solidFill>
            </a:endParaRPr>
          </a:p>
          <a:p>
            <a:pPr algn="ctr"/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(For detailed insights, refer to the interactive Power BI dashboard)</a:t>
            </a:r>
            <a:endParaRPr lang="en-US" sz="1600" dirty="0">
              <a:solidFill>
                <a:schemeClr val="tx1">
                  <a:lumMod val="95000"/>
                </a:schemeClr>
              </a:solidFill>
            </a:endParaRPr>
          </a:p>
          <a:p>
            <a:pPr algn="just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C7C99B-D8F3-7362-3BA7-89F25215FAF7}"/>
              </a:ext>
            </a:extLst>
          </p:cNvPr>
          <p:cNvSpPr txBox="1"/>
          <p:nvPr/>
        </p:nvSpPr>
        <p:spPr>
          <a:xfrm>
            <a:off x="1026693" y="509795"/>
            <a:ext cx="1957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INSIGHTS:</a:t>
            </a:r>
            <a:endParaRPr lang="en-IN" sz="2800" b="1" i="1" dirty="0">
              <a:solidFill>
                <a:schemeClr val="tx1">
                  <a:lumMod val="95000"/>
                </a:schemeClr>
              </a:solidFill>
              <a:latin typeface="+mj-lt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00D65F3-0881-9BC6-479D-3FC2FD680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070" y="5282243"/>
            <a:ext cx="1394290" cy="77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1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733"/>
    </mc:Choice>
    <mc:Fallback xmlns="">
      <p:transition spd="slow" advTm="6773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077C46-4AE2-8F04-F916-47D88BE258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23" r="13254" b="7474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95997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221"/>
    </mc:Choice>
    <mc:Fallback xmlns="">
      <p:transition spd="slow" advTm="4322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ABD7-287E-20BC-26DD-AB7D76DB6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RECOMMENDATIONS: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CFD27-74E8-DB9C-80FF-7E06E2A71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95" y="1475403"/>
            <a:ext cx="11935326" cy="5230197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en-US" sz="5800" b="1" dirty="0">
                <a:solidFill>
                  <a:schemeClr val="tx1">
                    <a:lumMod val="95000"/>
                  </a:schemeClr>
                </a:solidFill>
              </a:rPr>
              <a:t>1.Prioritize retention of High Value customers</a:t>
            </a:r>
            <a:r>
              <a:rPr lang="en-US" sz="5800" dirty="0">
                <a:solidFill>
                  <a:schemeClr val="tx1">
                    <a:lumMod val="95000"/>
                  </a:schemeClr>
                </a:solidFill>
              </a:rPr>
              <a:t> through exclusive benefits, not discounts, to protect margins.</a:t>
            </a:r>
          </a:p>
          <a:p>
            <a:pPr algn="just"/>
            <a:r>
              <a:rPr lang="en-US" sz="5800" b="1" dirty="0">
                <a:solidFill>
                  <a:schemeClr val="tx1">
                    <a:lumMod val="95000"/>
                  </a:schemeClr>
                </a:solidFill>
              </a:rPr>
              <a:t>2.Focus upsell and engagement strategies on Medium clusters</a:t>
            </a:r>
            <a:r>
              <a:rPr lang="en-US" sz="5800" dirty="0">
                <a:solidFill>
                  <a:schemeClr val="tx1">
                    <a:lumMod val="95000"/>
                  </a:schemeClr>
                </a:solidFill>
              </a:rPr>
              <a:t>, using targeted offers, bundles, and loyalty programs.</a:t>
            </a:r>
          </a:p>
          <a:p>
            <a:pPr algn="just"/>
            <a:r>
              <a:rPr lang="en-US" sz="5800" b="1" dirty="0">
                <a:solidFill>
                  <a:schemeClr val="tx1">
                    <a:lumMod val="95000"/>
                  </a:schemeClr>
                </a:solidFill>
              </a:rPr>
              <a:t>3.Reengage Low Value customers</a:t>
            </a:r>
            <a:r>
              <a:rPr lang="en-US" sz="5800" dirty="0">
                <a:solidFill>
                  <a:schemeClr val="tx1">
                    <a:lumMod val="95000"/>
                  </a:schemeClr>
                </a:solidFill>
              </a:rPr>
              <a:t> with personalized campaigns to increase purchase frequency.</a:t>
            </a:r>
          </a:p>
          <a:p>
            <a:pPr algn="just"/>
            <a:r>
              <a:rPr lang="en-US" sz="5800" b="1" dirty="0">
                <a:solidFill>
                  <a:schemeClr val="tx1">
                    <a:lumMod val="95000"/>
                  </a:schemeClr>
                </a:solidFill>
              </a:rPr>
              <a:t>4.Optimize discount strategy</a:t>
            </a:r>
            <a:r>
              <a:rPr lang="en-US" sz="5800" dirty="0">
                <a:solidFill>
                  <a:schemeClr val="tx1">
                    <a:lumMod val="95000"/>
                  </a:schemeClr>
                </a:solidFill>
              </a:rPr>
              <a:t>, especially for Sports and Electronics where high discounts yield low   returns.</a:t>
            </a:r>
          </a:p>
          <a:p>
            <a:pPr algn="just"/>
            <a:r>
              <a:rPr lang="en-US" sz="5800" b="1" dirty="0">
                <a:solidFill>
                  <a:schemeClr val="tx1">
                    <a:lumMod val="95000"/>
                  </a:schemeClr>
                </a:solidFill>
              </a:rPr>
              <a:t>5.Leverage Clothing’s strong demand</a:t>
            </a:r>
            <a:r>
              <a:rPr lang="en-US" sz="5800" dirty="0">
                <a:solidFill>
                  <a:schemeClr val="tx1">
                    <a:lumMod val="95000"/>
                  </a:schemeClr>
                </a:solidFill>
              </a:rPr>
              <a:t> by maintaining pricing power and introducing premium      variants.</a:t>
            </a:r>
          </a:p>
          <a:p>
            <a:pPr algn="just"/>
            <a:r>
              <a:rPr lang="en-US" sz="5800" b="1" dirty="0">
                <a:solidFill>
                  <a:schemeClr val="tx1">
                    <a:lumMod val="95000"/>
                  </a:schemeClr>
                </a:solidFill>
              </a:rPr>
              <a:t>6.Leverage seasonal demand</a:t>
            </a:r>
            <a:r>
              <a:rPr lang="en-US" sz="5800" dirty="0">
                <a:solidFill>
                  <a:schemeClr val="tx1">
                    <a:lumMod val="95000"/>
                  </a:schemeClr>
                </a:solidFill>
              </a:rPr>
              <a:t> by aligning promotions with high-performing categories per season.</a:t>
            </a:r>
          </a:p>
          <a:p>
            <a:pPr algn="just"/>
            <a:r>
              <a:rPr lang="en-US" sz="5800" b="1" dirty="0">
                <a:solidFill>
                  <a:schemeClr val="tx1">
                    <a:lumMod val="95000"/>
                  </a:schemeClr>
                </a:solidFill>
              </a:rPr>
              <a:t>7.Optimize seasonal promotions</a:t>
            </a:r>
            <a:r>
              <a:rPr lang="en-US" sz="5800" dirty="0">
                <a:solidFill>
                  <a:schemeClr val="tx1">
                    <a:lumMod val="95000"/>
                  </a:schemeClr>
                </a:solidFill>
              </a:rPr>
              <a:t>, especially in Winter and Fall, aligning discounts with actual         demand drivers.</a:t>
            </a:r>
          </a:p>
          <a:p>
            <a:pPr algn="just"/>
            <a:r>
              <a:rPr lang="en-US" sz="5800" b="1" dirty="0">
                <a:solidFill>
                  <a:schemeClr val="tx1">
                    <a:lumMod val="95000"/>
                  </a:schemeClr>
                </a:solidFill>
              </a:rPr>
              <a:t>8.Enhance digital payment experiences</a:t>
            </a:r>
            <a:r>
              <a:rPr lang="en-US" sz="5800" dirty="0">
                <a:solidFill>
                  <a:schemeClr val="tx1">
                    <a:lumMod val="95000"/>
                  </a:schemeClr>
                </a:solidFill>
              </a:rPr>
              <a:t> for younger customers while maintaining flexible options  for older age groups.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619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270"/>
    </mc:Choice>
    <mc:Fallback xmlns="">
      <p:transition spd="slow" advTm="12327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81372-AAA8-64D0-CAAE-DCBD9F20C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996" y="757518"/>
            <a:ext cx="3220036" cy="830650"/>
          </a:xfrm>
        </p:spPr>
        <p:txBody>
          <a:bodyPr/>
          <a:lstStyle/>
          <a:p>
            <a:r>
              <a:rPr lang="en-US" i="1" dirty="0"/>
              <a:t>Conclusion:</a:t>
            </a:r>
            <a:endParaRPr lang="en-IN" i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5F9DD4-FCC3-B061-A769-4F8189C986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9150" y="2309627"/>
            <a:ext cx="1147369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/>
              <a:t>Customer segmentation clearly differentiates value-driven and volume-driven customers.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Customer behavior varies significantly by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value segment, age, and season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/>
              <a:t>Discount effectiveness varies by category and season.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Targeted discounts and campaigns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can improve profitability and engagement</a:t>
            </a: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Insights from this analysis </a:t>
            </a:r>
            <a:r>
              <a:rPr lang="en-US" altLang="en-US" sz="2400" dirty="0"/>
              <a:t>enable data-driven decisions for pricing, promotions, and customer targeting.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75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486"/>
    </mc:Choice>
    <mc:Fallback xmlns="">
      <p:transition spd="slow" advTm="3648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55A8D-CF20-47E6-67DA-BAB2EED04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575" y="789602"/>
            <a:ext cx="3043573" cy="830650"/>
          </a:xfrm>
        </p:spPr>
        <p:txBody>
          <a:bodyPr/>
          <a:lstStyle/>
          <a:p>
            <a:r>
              <a:rPr lang="en-US" sz="3600" i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REFERENCES:</a:t>
            </a:r>
            <a:endParaRPr lang="en-IN" sz="3600" i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FC7A7-4878-4494-35D0-AD3C9FB73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575" y="1968943"/>
            <a:ext cx="8946541" cy="4195481"/>
          </a:xfrm>
        </p:spPr>
        <p:txBody>
          <a:bodyPr/>
          <a:lstStyle/>
          <a:p>
            <a:r>
              <a:rPr lang="en-US" dirty="0"/>
              <a:t>Power BI Dashboard:</a:t>
            </a:r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SQL Analysis: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Detailed Workflow: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1DD77F-65BD-1D45-CEED-E5FE5E433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928" y="5062246"/>
            <a:ext cx="24632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CDACL-002-C S.docx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E2F0708-7D74-69EE-9A95-E9A6FD6EC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928" y="3757517"/>
            <a:ext cx="19158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CDACL-002-C 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5FE9544-57B5-C0DC-FD8C-A637EDF5D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928" y="2309232"/>
            <a:ext cx="27618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CDACL-002-C S.pbix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037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41"/>
    </mc:Choice>
    <mc:Fallback xmlns="">
      <p:transition spd="slow" advTm="1044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3A95-4319-6AB6-9E94-27B60E7D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741" y="2806273"/>
            <a:ext cx="4056518" cy="1245453"/>
          </a:xfrm>
        </p:spPr>
        <p:txBody>
          <a:bodyPr/>
          <a:lstStyle/>
          <a:p>
            <a:r>
              <a:rPr lang="en-US" sz="6000" i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Thank You</a:t>
            </a:r>
            <a:endParaRPr lang="en-IN" sz="6000" i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7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67"/>
    </mc:Choice>
    <mc:Fallback xmlns="">
      <p:transition spd="slow" advTm="3667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292</TotalTime>
  <Words>672</Words>
  <Application>Microsoft Office PowerPoint</Application>
  <PresentationFormat>Widescreen</PresentationFormat>
  <Paragraphs>79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</vt:lpstr>
      <vt:lpstr>Century Gothic</vt:lpstr>
      <vt:lpstr>Sitka Text</vt:lpstr>
      <vt:lpstr>Wingdings 3</vt:lpstr>
      <vt:lpstr>Ion</vt:lpstr>
      <vt:lpstr>Customer Segmentation CDACL-002</vt:lpstr>
      <vt:lpstr>Dataset Overview and Objective:</vt:lpstr>
      <vt:lpstr>Task Flow</vt:lpstr>
      <vt:lpstr>Customer Segmentation Approach:</vt:lpstr>
      <vt:lpstr>PowerPoint Presentation</vt:lpstr>
      <vt:lpstr>PowerPoint Presentation</vt:lpstr>
      <vt:lpstr>PowerPoint Presentation</vt:lpstr>
      <vt:lpstr>RECOMMENDATIONS:</vt:lpstr>
      <vt:lpstr>Conclusion:</vt:lpstr>
      <vt:lpstr>REFERENCES: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RANGANATHA R</dc:creator>
  <cp:lastModifiedBy>RANGANATHA R</cp:lastModifiedBy>
  <cp:revision>25</cp:revision>
  <dcterms:created xsi:type="dcterms:W3CDTF">2025-12-26T06:53:50Z</dcterms:created>
  <dcterms:modified xsi:type="dcterms:W3CDTF">2025-12-27T10:20:59Z</dcterms:modified>
</cp:coreProperties>
</file>